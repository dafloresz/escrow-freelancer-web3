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9" r:id="rId1"/>
  </p:sldMasterIdLst>
  <p:notesMasterIdLst>
    <p:notesMasterId r:id="rId11"/>
  </p:notesMasterIdLst>
  <p:sldIdLst>
    <p:sldId id="256" r:id="rId2"/>
    <p:sldId id="257" r:id="rId3"/>
    <p:sldId id="267" r:id="rId4"/>
    <p:sldId id="259" r:id="rId5"/>
    <p:sldId id="261" r:id="rId6"/>
    <p:sldId id="264" r:id="rId7"/>
    <p:sldId id="263" r:id="rId8"/>
    <p:sldId id="260" r:id="rId9"/>
    <p:sldId id="266" r:id="rId10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028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74403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4473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3597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90387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05158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62321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4814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42875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28808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2545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19853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2839704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45215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1266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19310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746539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5670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4430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4AAD347D-5ACD-4C99-B74B-A9C85AD731AF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57F1E4F-1CFF-5643-939E-02111984F56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45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</p:sldLayoutIdLst>
  <p:hf sldNum="0" hdr="0" ftr="0" dt="0"/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2024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8036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4108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C9A7">
              <a:alpha val="12000"/>
            </a:srgbClr>
          </a:solidFill>
          <a:ln w="12700">
            <a:solidFill>
              <a:srgbClr val="00C9A7">
                <a:alpha val="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0" y="2286000"/>
            <a:ext cx="3657600" cy="3657600"/>
          </a:xfrm>
          <a:prstGeom prst="ellipse">
            <a:avLst/>
          </a:prstGeom>
          <a:solidFill>
            <a:srgbClr val="3D8EF0">
              <a:alpha val="10000"/>
            </a:srgbClr>
          </a:solidFill>
          <a:ln w="12700">
            <a:solidFill>
              <a:srgbClr val="3D8EF0">
                <a:alpha val="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02920"/>
            <a:ext cx="2011680" cy="292608"/>
          </a:xfrm>
          <a:prstGeom prst="rect">
            <a:avLst/>
          </a:prstGeom>
          <a:solidFill>
            <a:srgbClr val="00C9A7">
              <a:alpha val="15000"/>
            </a:srgbClr>
          </a:solidFill>
          <a:ln w="9525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02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A7"/>
                </a:solidFill>
              </a:rPr>
              <a:t>HACKATHON IREDE – WEB3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9601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Escrow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548640" y="16916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C9A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Freelancer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548640" y="26060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descentralizado de pagamento com garantia on-chain para </a:t>
            </a:r>
            <a:r>
              <a:rPr lang="en-US" sz="150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contratações</a:t>
            </a:r>
            <a:r>
              <a:rPr lang="en-US" sz="15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freelancers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3337560"/>
            <a:ext cx="3657600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Arquitetura Híbrida Web2.5  •  Smart Contracts EVM  •  Zero Custódia Centralizada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F85149">
              <a:alpha val="8000"/>
            </a:srgbClr>
          </a:solidFill>
          <a:ln w="12700">
            <a:solidFill>
              <a:srgbClr val="F85149">
                <a:alpha val="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O PROBLEMA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94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</a:t>
            </a:r>
            <a:r>
              <a:rPr lang="en-US" sz="3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falha</a:t>
            </a: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 mercado </a:t>
            </a:r>
            <a:r>
              <a:rPr lang="en-US" sz="3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tradicional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286000" cy="0"/>
          </a:xfrm>
          <a:prstGeom prst="line">
            <a:avLst/>
          </a:prstGeom>
          <a:noFill/>
          <a:ln w="25400">
            <a:solidFill>
              <a:srgbClr val="F851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874520"/>
            <a:ext cx="402336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874520"/>
            <a:ext cx="73152" cy="128016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9842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Taxas Abusivas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2585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cobram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20% sobre o valor do projeto de </a:t>
            </a:r>
            <a:r>
              <a:rPr lang="en-US" sz="95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contratante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freelancer.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66160" y="2103120"/>
            <a:ext cx="822960" cy="73152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103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5149"/>
                </a:solidFill>
              </a:rPr>
              <a:t>até 20%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4688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</a:rPr>
              <a:t>de taxa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402336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874520"/>
            <a:ext cx="73152" cy="128016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10912" y="19842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Custódia Centralizada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10912" y="22585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fica retido em contas bancárias da plataforma, sujeito a bloqueios arbitrários e atrasos nos saques.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909560" y="2103120"/>
            <a:ext cx="822960" cy="73152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09560" y="2103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5149"/>
                </a:solidFill>
              </a:rPr>
              <a:t>7 </a:t>
            </a:r>
            <a:r>
              <a:rPr lang="en-US" sz="1600" b="1" dirty="0" err="1">
                <a:solidFill>
                  <a:srgbClr val="F85149"/>
                </a:solidFill>
              </a:rPr>
              <a:t>dias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909560" y="24688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</a:rPr>
              <a:t>para sacar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" y="3337560"/>
            <a:ext cx="402336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" y="3337560"/>
            <a:ext cx="73152" cy="128016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3447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🕶️ Disputas Opacas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Resoluções de conflito são decididas por equipes humanas em processos opacos, sem mecanismos de transparência ou recurso.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566160" y="3566160"/>
            <a:ext cx="822960" cy="73152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35661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5149"/>
                </a:solidFill>
              </a:rPr>
              <a:t>0%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66160" y="39319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</a:rPr>
              <a:t>de auditoria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846320" y="3337560"/>
            <a:ext cx="4023360" cy="1280160"/>
          </a:xfrm>
          <a:prstGeom prst="rect">
            <a:avLst/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3337560"/>
            <a:ext cx="73152" cy="128016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3447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Sem Garantia Real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freelancer começa a trabalhar sem certeza do pagamento. O contratante paga sem garantia de entrega. A confiança é imposta.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909560" y="3566160"/>
            <a:ext cx="822960" cy="73152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9560" y="35661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5149"/>
                </a:solidFill>
              </a:rPr>
              <a:t>zero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909560" y="39319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</a:rPr>
              <a:t>garantia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1A3035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-1371600"/>
            <a:ext cx="4114800" cy="4114800"/>
          </a:xfrm>
          <a:prstGeom prst="ellipse">
            <a:avLst/>
          </a:prstGeom>
          <a:solidFill>
            <a:srgbClr val="0D3D38"/>
          </a:solidFill>
          <a:ln w="12700">
            <a:solidFill>
              <a:srgbClr val="0D3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719072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dApp com arquitetura híbrida que elimina o intermediário financeiro, resolvendo o "Problema de Confiança" entre contratantes e freelancers utilizando contratos inteligentes EVM.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450592"/>
            <a:ext cx="2651760" cy="2377440"/>
          </a:xfrm>
          <a:prstGeom prst="rect">
            <a:avLst/>
          </a:prstGeom>
          <a:solidFill>
            <a:srgbClr val="0D2226"/>
          </a:solidFill>
          <a:ln w="12700">
            <a:solidFill>
              <a:srgbClr val="1A3D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450592"/>
            <a:ext cx="2651760" cy="50292"/>
          </a:xfrm>
          <a:prstGeom prst="rect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5420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" y="297180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Custódia Centralizada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" y="34930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fundos (em USDC) são travados em um Smart Contract de Escrow inalterável. </a:t>
            </a:r>
            <a:r>
              <a:rPr lang="en-US" sz="950" dirty="0" err="1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</a:t>
            </a: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os criadores da Plataforma, </a:t>
            </a:r>
            <a:r>
              <a:rPr lang="en-US" sz="950" dirty="0" err="1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</a:t>
            </a: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movimentar esse dinheiro.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2450592"/>
            <a:ext cx="2651760" cy="2377440"/>
          </a:xfrm>
          <a:prstGeom prst="rect">
            <a:avLst/>
          </a:prstGeom>
          <a:solidFill>
            <a:srgbClr val="0D2226"/>
          </a:solidFill>
          <a:ln w="12700">
            <a:solidFill>
              <a:srgbClr val="1A3D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2450592"/>
            <a:ext cx="2651760" cy="50292"/>
          </a:xfrm>
          <a:prstGeom prst="rect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0712" y="25420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410712" y="297180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Garantia Mútua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410712" y="34930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freelancer trabalha sabendo que o dinheiro já está depositado no contrato. O contratante sabe que ele só será liberado mediante entrega do combinado.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2450592"/>
            <a:ext cx="2651760" cy="2377440"/>
          </a:xfrm>
          <a:prstGeom prst="rect">
            <a:avLst/>
          </a:prstGeom>
          <a:solidFill>
            <a:srgbClr val="0D2226"/>
          </a:solidFill>
          <a:ln w="12700">
            <a:solidFill>
              <a:srgbClr val="1A3D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5040" y="2450592"/>
            <a:ext cx="2651760" cy="50292"/>
          </a:xfrm>
          <a:prstGeom prst="rect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25420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199632" y="297180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 Justa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199632" y="34930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A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caso de conflito, um árbitro neutro é acionado on-chain para avaliar a situação e direcionar os fundos de forma imparcial.</a:t>
            </a:r>
            <a:endParaRPr lang="en-US" sz="950" dirty="0"/>
          </a:p>
        </p:txBody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77DE6519-D7C7-40E8-887B-20C60366CD95}"/>
              </a:ext>
            </a:extLst>
          </p:cNvPr>
          <p:cNvSpPr/>
          <p:nvPr/>
        </p:nvSpPr>
        <p:spPr>
          <a:xfrm>
            <a:off x="502920" y="320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A SOLUÇÃO</a:t>
            </a:r>
            <a:endParaRPr lang="en-US" sz="9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E60CB79F-B69A-4B9E-B1F0-03C844CF7DBC}"/>
              </a:ext>
            </a:extLst>
          </p:cNvPr>
          <p:cNvSpPr/>
          <p:nvPr/>
        </p:nvSpPr>
        <p:spPr>
          <a:xfrm>
            <a:off x="50292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Escrow on-chain.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Confiança sem intermediários.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1922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ARQUITETURA</a:t>
            </a:r>
            <a:endParaRPr lang="en-US" sz="9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D7D92AA0-CEC2-4459-8369-584827ACC773}"/>
              </a:ext>
            </a:extLst>
          </p:cNvPr>
          <p:cNvSpPr/>
          <p:nvPr/>
        </p:nvSpPr>
        <p:spPr>
          <a:xfrm>
            <a:off x="320040" y="201168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DE PRODUTO</a:t>
            </a:r>
            <a:endParaRPr lang="en-US" sz="1100" dirty="0"/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907F4C9A-79D6-4576-9204-00F1661AD20B}"/>
              </a:ext>
            </a:extLst>
          </p:cNvPr>
          <p:cNvSpPr/>
          <p:nvPr/>
        </p:nvSpPr>
        <p:spPr>
          <a:xfrm>
            <a:off x="228600" y="472186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Web2.5 e não Web3 puro?</a:t>
            </a:r>
            <a:endParaRPr lang="en-US" sz="2800" dirty="0"/>
          </a:p>
        </p:txBody>
      </p:sp>
      <p:sp>
        <p:nvSpPr>
          <p:cNvPr id="52" name="Shape 3">
            <a:extLst>
              <a:ext uri="{FF2B5EF4-FFF2-40B4-BE49-F238E27FC236}">
                <a16:creationId xmlns:a16="http://schemas.microsoft.com/office/drawing/2014/main" id="{8DA1442C-7CCD-44D3-AB9A-6DDAD99E7AF7}"/>
              </a:ext>
            </a:extLst>
          </p:cNvPr>
          <p:cNvSpPr/>
          <p:nvPr/>
        </p:nvSpPr>
        <p:spPr>
          <a:xfrm>
            <a:off x="320040" y="920750"/>
            <a:ext cx="8503920" cy="0"/>
          </a:xfrm>
          <a:prstGeom prst="line">
            <a:avLst/>
          </a:prstGeom>
          <a:noFill/>
          <a:ln w="10160">
            <a:solidFill>
              <a:srgbClr val="008C75"/>
            </a:solidFill>
            <a:prstDash val="solid"/>
          </a:ln>
        </p:spPr>
      </p:sp>
      <p:pic>
        <p:nvPicPr>
          <p:cNvPr id="53" name="Image 0" descr="preencoded.png">
            <a:extLst>
              <a:ext uri="{FF2B5EF4-FFF2-40B4-BE49-F238E27FC236}">
                <a16:creationId xmlns:a16="http://schemas.microsoft.com/office/drawing/2014/main" id="{AF439031-2FA4-4A9A-8419-6AD06C893AC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20040" y="1175766"/>
            <a:ext cx="292608" cy="292608"/>
          </a:xfrm>
          <a:prstGeom prst="rect">
            <a:avLst/>
          </a:prstGeom>
        </p:spPr>
      </p:pic>
      <p:sp>
        <p:nvSpPr>
          <p:cNvPr id="54" name="Text 4">
            <a:extLst>
              <a:ext uri="{FF2B5EF4-FFF2-40B4-BE49-F238E27FC236}">
                <a16:creationId xmlns:a16="http://schemas.microsoft.com/office/drawing/2014/main" id="{72FD903D-0A8B-440F-9C62-4A778A7AED14}"/>
              </a:ext>
            </a:extLst>
          </p:cNvPr>
          <p:cNvSpPr/>
          <p:nvPr/>
        </p:nvSpPr>
        <p:spPr>
          <a:xfrm>
            <a:off x="585216" y="119710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0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COM WEB3 PURO</a:t>
            </a:r>
            <a:endParaRPr lang="en-US" sz="1000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B7BD6060-1F9C-4DC2-8624-979C1C90F185}"/>
              </a:ext>
            </a:extLst>
          </p:cNvPr>
          <p:cNvSpPr/>
          <p:nvPr/>
        </p:nvSpPr>
        <p:spPr>
          <a:xfrm>
            <a:off x="228601" y="1532128"/>
            <a:ext cx="4160520" cy="2606040"/>
          </a:xfrm>
          <a:prstGeom prst="rect">
            <a:avLst/>
          </a:prstGeom>
          <a:solidFill>
            <a:srgbClr val="132233"/>
          </a:solidFill>
          <a:ln w="12700">
            <a:solidFill>
              <a:srgbClr val="1E3A4A"/>
            </a:solidFill>
            <a:prstDash val="solid"/>
          </a:ln>
        </p:spPr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74835096-3201-48CC-BAAD-FE1F7F70E756}"/>
              </a:ext>
            </a:extLst>
          </p:cNvPr>
          <p:cNvSpPr/>
          <p:nvPr/>
        </p:nvSpPr>
        <p:spPr>
          <a:xfrm>
            <a:off x="228601" y="1609852"/>
            <a:ext cx="37947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gás para publicar vaga</a:t>
            </a:r>
            <a:endParaRPr lang="en-US" sz="1200" dirty="0"/>
          </a:p>
          <a:p>
            <a:pPr marL="0" indent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quer pagar só para anunciar uma oportunidade.</a:t>
            </a:r>
            <a:endParaRPr lang="en-US" sz="1200" dirty="0"/>
          </a:p>
          <a:p>
            <a:pPr marL="0" indent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gás para se candidatar</a:t>
            </a:r>
            <a:endParaRPr lang="en-US" sz="1200" dirty="0"/>
          </a:p>
          <a:p>
            <a:pPr marL="0" indent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Freelancers abandonam a plataforma antes de começar.</a:t>
            </a:r>
            <a:endParaRPr lang="en-US" sz="1200" dirty="0"/>
          </a:p>
          <a:p>
            <a:pPr marL="0" indent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aprendizado Web3</a:t>
            </a:r>
            <a:endParaRPr lang="en-US" sz="1200" dirty="0"/>
          </a:p>
          <a:p>
            <a:pPr marL="0" indent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Carteira, seed phrase, gás... O usuário comum foge.</a:t>
            </a:r>
            <a:endParaRPr lang="en-US" sz="1200" dirty="0"/>
          </a:p>
        </p:txBody>
      </p:sp>
      <p:pic>
        <p:nvPicPr>
          <p:cNvPr id="57" name="Image 1" descr="preencoded.png">
            <a:extLst>
              <a:ext uri="{FF2B5EF4-FFF2-40B4-BE49-F238E27FC236}">
                <a16:creationId xmlns:a16="http://schemas.microsoft.com/office/drawing/2014/main" id="{B5680703-722F-45C4-B60D-66646614874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0718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09160" y="1158907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 7">
            <a:extLst>
              <a:ext uri="{FF2B5EF4-FFF2-40B4-BE49-F238E27FC236}">
                <a16:creationId xmlns:a16="http://schemas.microsoft.com/office/drawing/2014/main" id="{B5636865-1401-4B56-8621-2DF108580107}"/>
              </a:ext>
            </a:extLst>
          </p:cNvPr>
          <p:cNvSpPr/>
          <p:nvPr/>
        </p:nvSpPr>
        <p:spPr>
          <a:xfrm>
            <a:off x="5010912" y="1158907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SOLUÇÃO: WEB2.5</a:t>
            </a:r>
            <a:endParaRPr lang="en-US" sz="1000" dirty="0"/>
          </a:p>
        </p:txBody>
      </p:sp>
      <p:sp>
        <p:nvSpPr>
          <p:cNvPr id="59" name="Shape 8">
            <a:extLst>
              <a:ext uri="{FF2B5EF4-FFF2-40B4-BE49-F238E27FC236}">
                <a16:creationId xmlns:a16="http://schemas.microsoft.com/office/drawing/2014/main" id="{C7ABA81D-7F54-4F8D-968C-C86A66B4CEEA}"/>
              </a:ext>
            </a:extLst>
          </p:cNvPr>
          <p:cNvSpPr/>
          <p:nvPr/>
        </p:nvSpPr>
        <p:spPr>
          <a:xfrm>
            <a:off x="4599432" y="1533525"/>
            <a:ext cx="4069080" cy="2606040"/>
          </a:xfrm>
          <a:prstGeom prst="rect">
            <a:avLst/>
          </a:prstGeom>
          <a:solidFill>
            <a:srgbClr val="132233"/>
          </a:solidFill>
          <a:ln w="12700">
            <a:solidFill>
              <a:srgbClr val="008C75"/>
            </a:solidFill>
            <a:prstDash val="solid"/>
          </a:ln>
        </p:spPr>
      </p:sp>
      <p:pic>
        <p:nvPicPr>
          <p:cNvPr id="60" name="Image 2" descr="preencoded.png">
            <a:extLst>
              <a:ext uri="{FF2B5EF4-FFF2-40B4-BE49-F238E27FC236}">
                <a16:creationId xmlns:a16="http://schemas.microsoft.com/office/drawing/2014/main" id="{35985C39-1939-4C13-A3FF-772FF31F4E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6216" y="1687068"/>
            <a:ext cx="292608" cy="292608"/>
          </a:xfrm>
          <a:prstGeom prst="rect">
            <a:avLst/>
          </a:prstGeom>
        </p:spPr>
      </p:pic>
      <p:sp>
        <p:nvSpPr>
          <p:cNvPr id="61" name="Text 9">
            <a:extLst>
              <a:ext uri="{FF2B5EF4-FFF2-40B4-BE49-F238E27FC236}">
                <a16:creationId xmlns:a16="http://schemas.microsoft.com/office/drawing/2014/main" id="{251E2EF5-4F18-4E69-910C-240E8FA855F5}"/>
              </a:ext>
            </a:extLst>
          </p:cNvPr>
          <p:cNvSpPr/>
          <p:nvPr/>
        </p:nvSpPr>
        <p:spPr>
          <a:xfrm>
            <a:off x="5102352" y="171907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fluida no Web2</a:t>
            </a:r>
            <a:endParaRPr lang="en-US" sz="1200" dirty="0"/>
          </a:p>
        </p:txBody>
      </p:sp>
      <p:sp>
        <p:nvSpPr>
          <p:cNvPr id="62" name="Text 10">
            <a:extLst>
              <a:ext uri="{FF2B5EF4-FFF2-40B4-BE49-F238E27FC236}">
                <a16:creationId xmlns:a16="http://schemas.microsoft.com/office/drawing/2014/main" id="{3B0634A1-BFB9-4DF5-96E4-80A274606496}"/>
              </a:ext>
            </a:extLst>
          </p:cNvPr>
          <p:cNvSpPr/>
          <p:nvPr/>
        </p:nvSpPr>
        <p:spPr>
          <a:xfrm>
            <a:off x="4776216" y="1989646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busca de vagas e candidaturas sem fricção.</a:t>
            </a:r>
            <a:endParaRPr lang="en-US" sz="1100" dirty="0"/>
          </a:p>
        </p:txBody>
      </p:sp>
      <p:pic>
        <p:nvPicPr>
          <p:cNvPr id="63" name="Image 3" descr="preencoded.png">
            <a:extLst>
              <a:ext uri="{FF2B5EF4-FFF2-40B4-BE49-F238E27FC236}">
                <a16:creationId xmlns:a16="http://schemas.microsoft.com/office/drawing/2014/main" id="{564A9571-6117-41E2-BD04-53BC90CB51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3168" y="2527999"/>
            <a:ext cx="292608" cy="292608"/>
          </a:xfrm>
          <a:prstGeom prst="rect">
            <a:avLst/>
          </a:prstGeom>
        </p:spPr>
      </p:pic>
      <p:sp>
        <p:nvSpPr>
          <p:cNvPr id="64" name="Text 11">
            <a:extLst>
              <a:ext uri="{FF2B5EF4-FFF2-40B4-BE49-F238E27FC236}">
                <a16:creationId xmlns:a16="http://schemas.microsoft.com/office/drawing/2014/main" id="{8DA1C217-16FC-4C0C-BD33-960800C774F9}"/>
              </a:ext>
            </a:extLst>
          </p:cNvPr>
          <p:cNvSpPr/>
          <p:nvPr/>
        </p:nvSpPr>
        <p:spPr>
          <a:xfrm>
            <a:off x="5065776" y="2546287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só onde importa</a:t>
            </a:r>
            <a:endParaRPr lang="en-US" sz="1200" dirty="0"/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EE26F432-8D46-4651-AEA8-A838648C671E}"/>
              </a:ext>
            </a:extLst>
          </p:cNvPr>
          <p:cNvSpPr/>
          <p:nvPr/>
        </p:nvSpPr>
        <p:spPr>
          <a:xfrm>
            <a:off x="4736592" y="2777681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pagamento e auditoria ficam on-chain.</a:t>
            </a:r>
            <a:endParaRPr lang="en-US" sz="1100" dirty="0"/>
          </a:p>
        </p:txBody>
      </p:sp>
      <p:pic>
        <p:nvPicPr>
          <p:cNvPr id="66" name="Image 4" descr="preencoded.png">
            <a:extLst>
              <a:ext uri="{FF2B5EF4-FFF2-40B4-BE49-F238E27FC236}">
                <a16:creationId xmlns:a16="http://schemas.microsoft.com/office/drawing/2014/main" id="{D932D9A0-E0AE-472D-A275-607FB294EF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3168" y="3326004"/>
            <a:ext cx="292608" cy="292608"/>
          </a:xfrm>
          <a:prstGeom prst="rect">
            <a:avLst/>
          </a:prstGeom>
        </p:spPr>
      </p:pic>
      <p:sp>
        <p:nvSpPr>
          <p:cNvPr id="67" name="Text 13">
            <a:extLst>
              <a:ext uri="{FF2B5EF4-FFF2-40B4-BE49-F238E27FC236}">
                <a16:creationId xmlns:a16="http://schemas.microsoft.com/office/drawing/2014/main" id="{B8FA37A7-17C5-40C5-B43B-D6A6FB16B38D}"/>
              </a:ext>
            </a:extLst>
          </p:cNvPr>
          <p:cNvSpPr/>
          <p:nvPr/>
        </p:nvSpPr>
        <p:spPr>
          <a:xfrm>
            <a:off x="5065776" y="335045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gradual e natural</a:t>
            </a:r>
            <a:endParaRPr lang="en-US" sz="1200" dirty="0"/>
          </a:p>
        </p:txBody>
      </p:sp>
      <p:sp>
        <p:nvSpPr>
          <p:cNvPr id="68" name="Text 14">
            <a:extLst>
              <a:ext uri="{FF2B5EF4-FFF2-40B4-BE49-F238E27FC236}">
                <a16:creationId xmlns:a16="http://schemas.microsoft.com/office/drawing/2014/main" id="{01319F7B-E369-4890-A000-EBB22CFEB2AA}"/>
              </a:ext>
            </a:extLst>
          </p:cNvPr>
          <p:cNvSpPr/>
          <p:nvPr/>
        </p:nvSpPr>
        <p:spPr>
          <a:xfrm>
            <a:off x="4773168" y="3679761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ganha confiança e migra para Web3 sem ser forçado.</a:t>
            </a:r>
            <a:endParaRPr lang="en-US" sz="1100" dirty="0"/>
          </a:p>
        </p:txBody>
      </p:sp>
      <p:sp>
        <p:nvSpPr>
          <p:cNvPr id="69" name="Shape 15">
            <a:extLst>
              <a:ext uri="{FF2B5EF4-FFF2-40B4-BE49-F238E27FC236}">
                <a16:creationId xmlns:a16="http://schemas.microsoft.com/office/drawing/2014/main" id="{BF3CF1BC-0624-4699-9CD1-378D943A220B}"/>
              </a:ext>
            </a:extLst>
          </p:cNvPr>
          <p:cNvSpPr/>
          <p:nvPr/>
        </p:nvSpPr>
        <p:spPr>
          <a:xfrm>
            <a:off x="347472" y="4480560"/>
            <a:ext cx="8503920" cy="502920"/>
          </a:xfrm>
          <a:prstGeom prst="rect">
            <a:avLst/>
          </a:prstGeom>
          <a:solidFill>
            <a:srgbClr val="008C75">
              <a:alpha val="85000"/>
            </a:srgbClr>
          </a:solidFill>
          <a:ln w="12700">
            <a:solidFill>
              <a:srgbClr val="008C75"/>
            </a:solidFill>
            <a:prstDash val="solid"/>
          </a:ln>
        </p:spPr>
      </p:sp>
      <p:pic>
        <p:nvPicPr>
          <p:cNvPr id="70" name="Image 5" descr="preencoded.png">
            <a:extLst>
              <a:ext uri="{FF2B5EF4-FFF2-40B4-BE49-F238E27FC236}">
                <a16:creationId xmlns:a16="http://schemas.microsoft.com/office/drawing/2014/main" id="{C16E74EC-F7D0-4466-AE14-274136F4A1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912" y="4562603"/>
            <a:ext cx="292608" cy="292608"/>
          </a:xfrm>
          <a:prstGeom prst="rect">
            <a:avLst/>
          </a:prstGeom>
        </p:spPr>
      </p:pic>
      <p:sp>
        <p:nvSpPr>
          <p:cNvPr id="71" name="Text 16">
            <a:extLst>
              <a:ext uri="{FF2B5EF4-FFF2-40B4-BE49-F238E27FC236}">
                <a16:creationId xmlns:a16="http://schemas.microsoft.com/office/drawing/2014/main" id="{E61C429C-CEFD-4D6F-B0BF-EA25C9B6E93A}"/>
              </a:ext>
            </a:extLst>
          </p:cNvPr>
          <p:cNvSpPr/>
          <p:nvPr/>
        </p:nvSpPr>
        <p:spPr>
          <a:xfrm>
            <a:off x="758952" y="4498848"/>
            <a:ext cx="7909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usuário tem a segurança da blockchain sem precisar saber que ela existe."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457200"/>
            <a:ext cx="5486400" cy="5486400"/>
          </a:xfrm>
          <a:prstGeom prst="ellipse">
            <a:avLst/>
          </a:prstGeom>
          <a:solidFill>
            <a:srgbClr val="8B5CF6">
              <a:alpha val="7000"/>
            </a:srgbClr>
          </a:solidFill>
          <a:ln w="12700">
            <a:solidFill>
              <a:srgbClr val="8B5CF6">
                <a:alpha val="5000"/>
              </a:srgbClr>
            </a:solidFill>
            <a:prstDash val="solid"/>
          </a:ln>
        </p:spPr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7F3F44E4-12E1-440B-A5DF-E4A8A8F1847A}"/>
              </a:ext>
            </a:extLst>
          </p:cNvPr>
          <p:cNvSpPr/>
          <p:nvPr/>
        </p:nvSpPr>
        <p:spPr>
          <a:xfrm>
            <a:off x="320040" y="22860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ARBITRAGEM</a:t>
            </a:r>
            <a:endParaRPr lang="en-US" sz="1100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B83E2182-0DC6-42F7-A788-83A983496660}"/>
              </a:ext>
            </a:extLst>
          </p:cNvPr>
          <p:cNvSpPr/>
          <p:nvPr/>
        </p:nvSpPr>
        <p:spPr>
          <a:xfrm>
            <a:off x="320040" y="566928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resolvemos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conflitos</a:t>
            </a:r>
            <a:endParaRPr lang="en-US" sz="2800" dirty="0"/>
          </a:p>
        </p:txBody>
      </p:sp>
      <p:sp>
        <p:nvSpPr>
          <p:cNvPr id="45" name="Shape 3">
            <a:extLst>
              <a:ext uri="{FF2B5EF4-FFF2-40B4-BE49-F238E27FC236}">
                <a16:creationId xmlns:a16="http://schemas.microsoft.com/office/drawing/2014/main" id="{B1EA1964-0711-4AF0-A7CD-5289D6D77746}"/>
              </a:ext>
            </a:extLst>
          </p:cNvPr>
          <p:cNvSpPr/>
          <p:nvPr/>
        </p:nvSpPr>
        <p:spPr>
          <a:xfrm>
            <a:off x="320040" y="1143000"/>
            <a:ext cx="8503920" cy="0"/>
          </a:xfrm>
          <a:prstGeom prst="line">
            <a:avLst/>
          </a:prstGeom>
          <a:noFill/>
          <a:ln w="10160">
            <a:solidFill>
              <a:srgbClr val="008C75"/>
            </a:solidFill>
            <a:prstDash val="solid"/>
          </a:ln>
        </p:spPr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E2855EE-B9F8-4836-94C9-109260F5C1CE}"/>
              </a:ext>
            </a:extLst>
          </p:cNvPr>
          <p:cNvSpPr/>
          <p:nvPr/>
        </p:nvSpPr>
        <p:spPr>
          <a:xfrm>
            <a:off x="320040" y="1280160"/>
            <a:ext cx="2606040" cy="3291840"/>
          </a:xfrm>
          <a:prstGeom prst="rect">
            <a:avLst/>
          </a:prstGeom>
          <a:solidFill>
            <a:srgbClr val="132233"/>
          </a:solidFill>
          <a:ln w="12700">
            <a:solidFill>
              <a:srgbClr val="1E3A4A"/>
            </a:solidFill>
            <a:prstDash val="solid"/>
          </a:ln>
        </p:spPr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C0D8B5BD-5117-4781-83D2-078653D71C77}"/>
              </a:ext>
            </a:extLst>
          </p:cNvPr>
          <p:cNvSpPr/>
          <p:nvPr/>
        </p:nvSpPr>
        <p:spPr>
          <a:xfrm>
            <a:off x="320040" y="1280160"/>
            <a:ext cx="2606040" cy="54864"/>
          </a:xfrm>
          <a:prstGeom prst="rect">
            <a:avLst/>
          </a:prstGeom>
          <a:solidFill>
            <a:srgbClr val="E03C3C"/>
          </a:solidFill>
          <a:ln w="12700">
            <a:solidFill>
              <a:srgbClr val="E03C3C"/>
            </a:solidFill>
            <a:prstDash val="solid"/>
          </a:ln>
        </p:spPr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479609DB-AA55-4092-B9FA-E98AAC9C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320040" cy="320040"/>
          </a:xfrm>
          <a:prstGeom prst="rect">
            <a:avLst/>
          </a:prstGeom>
        </p:spPr>
      </p:pic>
      <p:sp>
        <p:nvSpPr>
          <p:cNvPr id="49" name="Text 6">
            <a:extLst>
              <a:ext uri="{FF2B5EF4-FFF2-40B4-BE49-F238E27FC236}">
                <a16:creationId xmlns:a16="http://schemas.microsoft.com/office/drawing/2014/main" id="{0E6B4DF4-521C-4A78-8DAA-BF19A048D7C9}"/>
              </a:ext>
            </a:extLst>
          </p:cNvPr>
          <p:cNvSpPr/>
          <p:nvPr/>
        </p:nvSpPr>
        <p:spPr>
          <a:xfrm>
            <a:off x="868680" y="14356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0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1</a:t>
            </a:r>
            <a:endParaRPr lang="en-US" sz="1000" dirty="0"/>
          </a:p>
        </p:txBody>
      </p:sp>
      <p:sp>
        <p:nvSpPr>
          <p:cNvPr id="50" name="Text 7">
            <a:extLst>
              <a:ext uri="{FF2B5EF4-FFF2-40B4-BE49-F238E27FC236}">
                <a16:creationId xmlns:a16="http://schemas.microsoft.com/office/drawing/2014/main" id="{C0111E67-394E-488C-A300-C8B41AB2394C}"/>
              </a:ext>
            </a:extLst>
          </p:cNvPr>
          <p:cNvSpPr/>
          <p:nvPr/>
        </p:nvSpPr>
        <p:spPr>
          <a:xfrm>
            <a:off x="411480" y="17647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Centralizado</a:t>
            </a:r>
            <a:endParaRPr lang="en-US" sz="1400" dirty="0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AD8DA5FB-77EC-4450-9643-9DF501B08693}"/>
              </a:ext>
            </a:extLst>
          </p:cNvPr>
          <p:cNvSpPr/>
          <p:nvPr/>
        </p:nvSpPr>
        <p:spPr>
          <a:xfrm>
            <a:off x="411480" y="2176272"/>
            <a:ext cx="2423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é o árbitro.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Endereço fixo no contrato. Freelancer confia na marca.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Poder concentrado demais.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Contraria a filosofia Web3.</a:t>
            </a:r>
            <a:endParaRPr lang="en-US" sz="1200" dirty="0"/>
          </a:p>
        </p:txBody>
      </p:sp>
      <p:sp>
        <p:nvSpPr>
          <p:cNvPr id="52" name="Shape 9">
            <a:extLst>
              <a:ext uri="{FF2B5EF4-FFF2-40B4-BE49-F238E27FC236}">
                <a16:creationId xmlns:a16="http://schemas.microsoft.com/office/drawing/2014/main" id="{6CBC7EE6-CDA8-499F-AD02-419D7A219051}"/>
              </a:ext>
            </a:extLst>
          </p:cNvPr>
          <p:cNvSpPr/>
          <p:nvPr/>
        </p:nvSpPr>
        <p:spPr>
          <a:xfrm>
            <a:off x="502920" y="4251960"/>
            <a:ext cx="1463040" cy="246888"/>
          </a:xfrm>
          <a:prstGeom prst="rect">
            <a:avLst/>
          </a:prstGeom>
          <a:solidFill>
            <a:srgbClr val="E03C3C">
              <a:alpha val="30000"/>
            </a:srgbClr>
          </a:solidFill>
          <a:ln w="12700">
            <a:solidFill>
              <a:srgbClr val="E03C3C"/>
            </a:solidFill>
            <a:prstDash val="solid"/>
          </a:ln>
        </p:spPr>
      </p:sp>
      <p:sp>
        <p:nvSpPr>
          <p:cNvPr id="53" name="Text 10">
            <a:extLst>
              <a:ext uri="{FF2B5EF4-FFF2-40B4-BE49-F238E27FC236}">
                <a16:creationId xmlns:a16="http://schemas.microsoft.com/office/drawing/2014/main" id="{F6D21656-0B03-4AA2-B050-93D6D6D652D3}"/>
              </a:ext>
            </a:extLst>
          </p:cNvPr>
          <p:cNvSpPr/>
          <p:nvPr/>
        </p:nvSpPr>
        <p:spPr>
          <a:xfrm>
            <a:off x="502920" y="4251960"/>
            <a:ext cx="1463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IMPLEMENTADO</a:t>
            </a:r>
            <a:endParaRPr lang="en-US" sz="850" dirty="0"/>
          </a:p>
        </p:txBody>
      </p:sp>
      <p:sp>
        <p:nvSpPr>
          <p:cNvPr id="54" name="Shape 11">
            <a:extLst>
              <a:ext uri="{FF2B5EF4-FFF2-40B4-BE49-F238E27FC236}">
                <a16:creationId xmlns:a16="http://schemas.microsoft.com/office/drawing/2014/main" id="{B4A4BA20-F110-4A55-9945-A53DB135C32B}"/>
              </a:ext>
            </a:extLst>
          </p:cNvPr>
          <p:cNvSpPr/>
          <p:nvPr/>
        </p:nvSpPr>
        <p:spPr>
          <a:xfrm>
            <a:off x="3264408" y="1280160"/>
            <a:ext cx="2606040" cy="3291840"/>
          </a:xfrm>
          <a:prstGeom prst="rect">
            <a:avLst/>
          </a:prstGeom>
          <a:solidFill>
            <a:srgbClr val="132233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55" name="Shape 12">
            <a:extLst>
              <a:ext uri="{FF2B5EF4-FFF2-40B4-BE49-F238E27FC236}">
                <a16:creationId xmlns:a16="http://schemas.microsoft.com/office/drawing/2014/main" id="{9B3B634C-A694-471B-BB76-1DEC4C99280C}"/>
              </a:ext>
            </a:extLst>
          </p:cNvPr>
          <p:cNvSpPr/>
          <p:nvPr/>
        </p:nvSpPr>
        <p:spPr>
          <a:xfrm>
            <a:off x="3264408" y="1280160"/>
            <a:ext cx="260604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56" name="Image 1" descr="preencoded.png">
            <a:extLst>
              <a:ext uri="{FF2B5EF4-FFF2-40B4-BE49-F238E27FC236}">
                <a16:creationId xmlns:a16="http://schemas.microsoft.com/office/drawing/2014/main" id="{B5D299EA-2D80-4179-9BE0-4E785144B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417320"/>
            <a:ext cx="320040" cy="320040"/>
          </a:xfrm>
          <a:prstGeom prst="rect">
            <a:avLst/>
          </a:prstGeom>
        </p:spPr>
      </p:pic>
      <p:sp>
        <p:nvSpPr>
          <p:cNvPr id="57" name="Text 13">
            <a:extLst>
              <a:ext uri="{FF2B5EF4-FFF2-40B4-BE49-F238E27FC236}">
                <a16:creationId xmlns:a16="http://schemas.microsoft.com/office/drawing/2014/main" id="{CD5783CB-ED94-49EC-934D-F3BF9DD396B6}"/>
              </a:ext>
            </a:extLst>
          </p:cNvPr>
          <p:cNvSpPr/>
          <p:nvPr/>
        </p:nvSpPr>
        <p:spPr>
          <a:xfrm>
            <a:off x="3794760" y="1435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2 — MVP</a:t>
            </a:r>
            <a:endParaRPr lang="en-US" sz="1000" dirty="0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C561E28A-88DA-4D74-B3FC-D6D24FE29DBC}"/>
              </a:ext>
            </a:extLst>
          </p:cNvPr>
          <p:cNvSpPr/>
          <p:nvPr/>
        </p:nvSpPr>
        <p:spPr>
          <a:xfrm>
            <a:off x="3337560" y="17647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Duplo Consentimento</a:t>
            </a:r>
            <a:endParaRPr lang="en-US" sz="1400" dirty="0"/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D55707AF-5FBD-4A83-879A-02AFFA9E402B}"/>
              </a:ext>
            </a:extLst>
          </p:cNvPr>
          <p:cNvSpPr/>
          <p:nvPr/>
        </p:nvSpPr>
        <p:spPr>
          <a:xfrm>
            <a:off x="3337560" y="2176272"/>
            <a:ext cx="2423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Contratante propõe árbitro.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fica em AGUARDANDO_ACEITE.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 analisa e decide.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Sem concentração de poder.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Rápido de implementar.</a:t>
            </a:r>
            <a:endParaRPr lang="en-US" sz="1200" dirty="0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BF61EC7A-0C75-43B5-B104-6C7BBB982379}"/>
              </a:ext>
            </a:extLst>
          </p:cNvPr>
          <p:cNvSpPr/>
          <p:nvPr/>
        </p:nvSpPr>
        <p:spPr>
          <a:xfrm>
            <a:off x="3429000" y="4251960"/>
            <a:ext cx="1463040" cy="246888"/>
          </a:xfrm>
          <a:prstGeom prst="rect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1E224ADB-5FFD-46B0-9E50-98DEDC3230A1}"/>
              </a:ext>
            </a:extLst>
          </p:cNvPr>
          <p:cNvSpPr/>
          <p:nvPr/>
        </p:nvSpPr>
        <p:spPr>
          <a:xfrm>
            <a:off x="3429000" y="4251960"/>
            <a:ext cx="1463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850" dirty="0"/>
          </a:p>
        </p:txBody>
      </p:sp>
      <p:sp>
        <p:nvSpPr>
          <p:cNvPr id="62" name="Shape 18">
            <a:extLst>
              <a:ext uri="{FF2B5EF4-FFF2-40B4-BE49-F238E27FC236}">
                <a16:creationId xmlns:a16="http://schemas.microsoft.com/office/drawing/2014/main" id="{BF8B2180-CDFD-4787-9AA5-A8ABBFDE8245}"/>
              </a:ext>
            </a:extLst>
          </p:cNvPr>
          <p:cNvSpPr/>
          <p:nvPr/>
        </p:nvSpPr>
        <p:spPr>
          <a:xfrm>
            <a:off x="6217920" y="1280160"/>
            <a:ext cx="2606040" cy="3291840"/>
          </a:xfrm>
          <a:prstGeom prst="rect">
            <a:avLst/>
          </a:prstGeom>
          <a:solidFill>
            <a:srgbClr val="132233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3" name="Shape 19">
            <a:extLst>
              <a:ext uri="{FF2B5EF4-FFF2-40B4-BE49-F238E27FC236}">
                <a16:creationId xmlns:a16="http://schemas.microsoft.com/office/drawing/2014/main" id="{DFC2F891-0BB6-4A10-A263-229A23D90100}"/>
              </a:ext>
            </a:extLst>
          </p:cNvPr>
          <p:cNvSpPr/>
          <p:nvPr/>
        </p:nvSpPr>
        <p:spPr>
          <a:xfrm>
            <a:off x="6217920" y="1280160"/>
            <a:ext cx="260604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45FEC671-BD9B-4319-B1E9-73079F7151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417320"/>
            <a:ext cx="320040" cy="320040"/>
          </a:xfrm>
          <a:prstGeom prst="rect">
            <a:avLst/>
          </a:prstGeom>
        </p:spPr>
      </p:pic>
      <p:sp>
        <p:nvSpPr>
          <p:cNvPr id="65" name="Text 20">
            <a:extLst>
              <a:ext uri="{FF2B5EF4-FFF2-40B4-BE49-F238E27FC236}">
                <a16:creationId xmlns:a16="http://schemas.microsoft.com/office/drawing/2014/main" id="{8AFEA88F-D98A-4DF0-B8CD-0D135DE94A4C}"/>
              </a:ext>
            </a:extLst>
          </p:cNvPr>
          <p:cNvSpPr/>
          <p:nvPr/>
        </p:nvSpPr>
        <p:spPr>
          <a:xfrm>
            <a:off x="6748272" y="14356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3</a:t>
            </a:r>
            <a:endParaRPr lang="en-US" sz="1000" dirty="0"/>
          </a:p>
        </p:txBody>
      </p:sp>
      <p:sp>
        <p:nvSpPr>
          <p:cNvPr id="66" name="Text 21">
            <a:extLst>
              <a:ext uri="{FF2B5EF4-FFF2-40B4-BE49-F238E27FC236}">
                <a16:creationId xmlns:a16="http://schemas.microsoft.com/office/drawing/2014/main" id="{F7BE6B62-3277-4CF2-8864-6FC1E7FEAE28}"/>
              </a:ext>
            </a:extLst>
          </p:cNvPr>
          <p:cNvSpPr/>
          <p:nvPr/>
        </p:nvSpPr>
        <p:spPr>
          <a:xfrm>
            <a:off x="6291072" y="17647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Kleros / Arbitragem DAO</a:t>
            </a:r>
            <a:endParaRPr lang="en-US" sz="1400" dirty="0"/>
          </a:p>
        </p:txBody>
      </p:sp>
      <p:sp>
        <p:nvSpPr>
          <p:cNvPr id="67" name="Text 22">
            <a:extLst>
              <a:ext uri="{FF2B5EF4-FFF2-40B4-BE49-F238E27FC236}">
                <a16:creationId xmlns:a16="http://schemas.microsoft.com/office/drawing/2014/main" id="{2EC80FBE-4577-49A5-9A6F-A5984CD6D0DA}"/>
              </a:ext>
            </a:extLst>
          </p:cNvPr>
          <p:cNvSpPr/>
          <p:nvPr/>
        </p:nvSpPr>
        <p:spPr>
          <a:xfrm>
            <a:off x="6291072" y="2176272"/>
            <a:ext cx="2423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Jurados anônimos ao redor do mundo.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dos jogos garante honestidade. Impossível subornar.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Mais descentralizado.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EA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Alta complexidade técnica.</a:t>
            </a:r>
            <a:endParaRPr lang="en-US" sz="1200" dirty="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DBCFE14C-DC1B-43D9-B1B7-F0F2EB0CB441}"/>
              </a:ext>
            </a:extLst>
          </p:cNvPr>
          <p:cNvSpPr/>
          <p:nvPr/>
        </p:nvSpPr>
        <p:spPr>
          <a:xfrm>
            <a:off x="6382512" y="4251960"/>
            <a:ext cx="1463040" cy="246888"/>
          </a:xfrm>
          <a:prstGeom prst="rect">
            <a:avLst/>
          </a:prstGeom>
          <a:solidFill>
            <a:srgbClr val="FF6B35">
              <a:alpha val="30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017DF99B-073F-4172-A739-798CC18B6CD3}"/>
              </a:ext>
            </a:extLst>
          </p:cNvPr>
          <p:cNvSpPr/>
          <p:nvPr/>
        </p:nvSpPr>
        <p:spPr>
          <a:xfrm>
            <a:off x="6382512" y="4251960"/>
            <a:ext cx="1463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VERSÃO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6400800" cy="6400800"/>
          </a:xfrm>
          <a:prstGeom prst="ellipse">
            <a:avLst/>
          </a:prstGeom>
          <a:solidFill>
            <a:srgbClr val="00C9A7">
              <a:alpha val="6000"/>
            </a:srgbClr>
          </a:solidFill>
          <a:ln w="12700">
            <a:solidFill>
              <a:srgbClr val="00C9A7">
                <a:alpha val="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DIFERENCIAIS &amp;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nos diferencia hoje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 o que vem a seguir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200400" cy="0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201168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00C9A7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600200"/>
            <a:ext cx="2011680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🏭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Factory Pattern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8B949E"/>
                </a:solidFill>
              </a:rPr>
              <a:t>Isolamento</a:t>
            </a:r>
            <a:r>
              <a:rPr lang="en-US" sz="850" dirty="0">
                <a:solidFill>
                  <a:srgbClr val="8B949E"/>
                </a:solidFill>
              </a:rPr>
              <a:t> total, </a:t>
            </a:r>
            <a:r>
              <a:rPr lang="en-US" sz="850" dirty="0" err="1">
                <a:solidFill>
                  <a:srgbClr val="8B949E"/>
                </a:solidFill>
              </a:rPr>
              <a:t>cada</a:t>
            </a:r>
            <a:r>
              <a:rPr lang="en-US" sz="850" dirty="0">
                <a:solidFill>
                  <a:srgbClr val="8B949E"/>
                </a:solidFill>
              </a:rPr>
              <a:t> projeto tem seu próprio contrato e cofre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14600" y="1600200"/>
            <a:ext cx="201168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D8EF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14600" y="1600200"/>
            <a:ext cx="2011680" cy="9144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1460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💵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514600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Multitoken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06040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</a:rPr>
              <a:t>USDC, USDT, DAI, WETH via interface IERC20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600200"/>
            <a:ext cx="201168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8B5CF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600200"/>
            <a:ext cx="201168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🤝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663440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Duplo Consentimento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</a:rPr>
              <a:t>Prestador valida o árbitro proposto antes de </a:t>
            </a:r>
            <a:r>
              <a:rPr lang="en-US" sz="850" dirty="0" err="1">
                <a:solidFill>
                  <a:srgbClr val="8B949E"/>
                </a:solidFill>
              </a:rPr>
              <a:t>assinar</a:t>
            </a:r>
            <a:r>
              <a:rPr lang="en-US" sz="850" dirty="0">
                <a:solidFill>
                  <a:srgbClr val="8B949E"/>
                </a:solidFill>
              </a:rPr>
              <a:t> o </a:t>
            </a:r>
            <a:r>
              <a:rPr lang="en-US" sz="850" dirty="0" err="1">
                <a:solidFill>
                  <a:srgbClr val="8B949E"/>
                </a:solidFill>
              </a:rPr>
              <a:t>contrato</a:t>
            </a:r>
            <a:r>
              <a:rPr lang="en-US" sz="850" dirty="0">
                <a:solidFill>
                  <a:srgbClr val="8B949E"/>
                </a:solidFill>
              </a:rPr>
              <a:t>, </a:t>
            </a:r>
            <a:r>
              <a:rPr lang="en-US" sz="850" dirty="0" err="1">
                <a:solidFill>
                  <a:srgbClr val="8B949E"/>
                </a:solidFill>
              </a:rPr>
              <a:t>sem</a:t>
            </a:r>
            <a:r>
              <a:rPr lang="en-US" sz="850" dirty="0">
                <a:solidFill>
                  <a:srgbClr val="8B949E"/>
                </a:solidFill>
              </a:rPr>
              <a:t> </a:t>
            </a:r>
            <a:r>
              <a:rPr lang="en-US" sz="850" dirty="0" err="1">
                <a:solidFill>
                  <a:srgbClr val="8B949E"/>
                </a:solidFill>
              </a:rPr>
              <a:t>centralização</a:t>
            </a:r>
            <a:endParaRPr lang="en-US" sz="850" dirty="0">
              <a:solidFill>
                <a:srgbClr val="8B949E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</a:rPr>
              <a:t>(MVP)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812280" y="1600200"/>
            <a:ext cx="201168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12280" y="1600200"/>
            <a:ext cx="2011680" cy="9144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12280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Zero Gas p/ Usuário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</a:rPr>
              <a:t>Postagem de vagas e candidaturas </a:t>
            </a:r>
            <a:r>
              <a:rPr lang="en-US" sz="850" dirty="0" err="1">
                <a:solidFill>
                  <a:srgbClr val="8B949E"/>
                </a:solidFill>
              </a:rPr>
              <a:t>são</a:t>
            </a:r>
            <a:r>
              <a:rPr lang="en-US" sz="850" dirty="0">
                <a:solidFill>
                  <a:srgbClr val="8B949E"/>
                </a:solidFill>
              </a:rPr>
              <a:t> </a:t>
            </a:r>
            <a:r>
              <a:rPr lang="en-US" sz="850" dirty="0" err="1">
                <a:solidFill>
                  <a:srgbClr val="8B949E"/>
                </a:solidFill>
              </a:rPr>
              <a:t>gratuitas</a:t>
            </a:r>
            <a:r>
              <a:rPr lang="en-US" sz="850" dirty="0">
                <a:solidFill>
                  <a:srgbClr val="8B949E"/>
                </a:solidFill>
              </a:rPr>
              <a:t>, gas apenas no </a:t>
            </a:r>
            <a:r>
              <a:rPr lang="en-US" sz="850" dirty="0" err="1">
                <a:solidFill>
                  <a:srgbClr val="8B949E"/>
                </a:solidFill>
              </a:rPr>
              <a:t>momento</a:t>
            </a:r>
            <a:r>
              <a:rPr lang="en-US" sz="850" dirty="0">
                <a:solidFill>
                  <a:srgbClr val="8B949E"/>
                </a:solidFill>
              </a:rPr>
              <a:t> de </a:t>
            </a:r>
            <a:r>
              <a:rPr lang="en-US" sz="850" dirty="0" err="1">
                <a:solidFill>
                  <a:srgbClr val="8B949E"/>
                </a:solidFill>
              </a:rPr>
              <a:t>criação</a:t>
            </a:r>
            <a:r>
              <a:rPr lang="en-US" sz="850" dirty="0">
                <a:solidFill>
                  <a:srgbClr val="8B949E"/>
                </a:solidFill>
              </a:rPr>
              <a:t> da escrow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00400"/>
            <a:ext cx="8412480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2918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</a:rPr>
              <a:t>🗺️  ROADMAP — Evolução do Protocolo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657600"/>
            <a:ext cx="4206240" cy="576072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657600"/>
            <a:ext cx="457200" cy="576072"/>
          </a:xfrm>
          <a:prstGeom prst="rect">
            <a:avLst/>
          </a:prstGeom>
          <a:solidFill>
            <a:srgbClr val="8B949E">
              <a:alpha val="75000"/>
            </a:srgbClr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65760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PROD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96112" y="37124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Árbitro como Plataforma (MVP Atual)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96112" y="3931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Endereço da equipe age como árbitro. Simples, funcional, mas </a:t>
            </a:r>
            <a:r>
              <a:rPr lang="en-US" sz="800" dirty="0" err="1">
                <a:solidFill>
                  <a:srgbClr val="8B949E"/>
                </a:solidFill>
              </a:rPr>
              <a:t>centralizado</a:t>
            </a:r>
            <a:r>
              <a:rPr lang="en-US" sz="800" dirty="0">
                <a:solidFill>
                  <a:srgbClr val="8B949E"/>
                </a:solidFill>
              </a:rPr>
              <a:t>, </a:t>
            </a:r>
            <a:r>
              <a:rPr lang="en-US" sz="800" dirty="0" err="1">
                <a:solidFill>
                  <a:srgbClr val="8B949E"/>
                </a:solidFill>
              </a:rPr>
              <a:t>nossa</a:t>
            </a:r>
            <a:r>
              <a:rPr lang="en-US" sz="800" dirty="0">
                <a:solidFill>
                  <a:srgbClr val="8B949E"/>
                </a:solidFill>
              </a:rPr>
              <a:t> base atual.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39312" y="3767328"/>
            <a:ext cx="822960" cy="25603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9312" y="37673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</a:rPr>
              <a:t>✅ Implementado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800600" y="3657600"/>
            <a:ext cx="4206240" cy="576072"/>
          </a:xfrm>
          <a:prstGeom prst="rect">
            <a:avLst/>
          </a:prstGeom>
          <a:solidFill>
            <a:srgbClr val="161B22"/>
          </a:solidFill>
          <a:ln w="9525">
            <a:solidFill>
              <a:srgbClr val="3D8E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3657600"/>
            <a:ext cx="457200" cy="576072"/>
          </a:xfrm>
          <a:prstGeom prst="rect">
            <a:avLst/>
          </a:prstGeom>
          <a:solidFill>
            <a:srgbClr val="3D8EF0">
              <a:alpha val="75000"/>
            </a:srgbClr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3657600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30952" y="37124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Duplo Consentimento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330952" y="3931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Prestador valida e aceita explicitamente o árbitro proposto. Estado ACEITO antes do depósito.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074152" y="3767328"/>
            <a:ext cx="822960" cy="25603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74152" y="37673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D8EF0"/>
                </a:solidFill>
              </a:rPr>
              <a:t>✅ Implementado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65760" y="4325112"/>
            <a:ext cx="4206240" cy="576072"/>
          </a:xfrm>
          <a:prstGeom prst="rect">
            <a:avLst/>
          </a:prstGeom>
          <a:solidFill>
            <a:srgbClr val="161B22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4325112"/>
            <a:ext cx="457200" cy="576072"/>
          </a:xfrm>
          <a:prstGeom prst="rect">
            <a:avLst/>
          </a:prstGeom>
          <a:solidFill>
            <a:srgbClr val="8B5CF6">
              <a:alpha val="7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325112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96112" y="43799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Integração Kleros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96112" y="4599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Corte descentralizada com jurados anônimos e incentivos via teoria dos jogos. ERC-792 arbitrable interface.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639312" y="4434840"/>
            <a:ext cx="822960" cy="25603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4348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</a:rPr>
              <a:t>🔜 Roadmap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800600" y="4325112"/>
            <a:ext cx="4206240" cy="576072"/>
          </a:xfrm>
          <a:prstGeom prst="rect">
            <a:avLst/>
          </a:prstGeom>
          <a:solidFill>
            <a:srgbClr val="161B22"/>
          </a:solidFill>
          <a:ln w="9525">
            <a:solidFill>
              <a:srgbClr val="00C9A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00600" y="4325112"/>
            <a:ext cx="457200" cy="576072"/>
          </a:xfrm>
          <a:prstGeom prst="rect">
            <a:avLst/>
          </a:prstGeom>
          <a:solidFill>
            <a:srgbClr val="00C9A7">
              <a:alpha val="75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00600" y="4325112"/>
            <a:ext cx="457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330952" y="43799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Oráculos de IA (Chainlink Functions)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330952" y="4599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IA analisa repositório GitHub / assets e emite relatório de conformidade para liberar fundos automaticamente.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074152" y="4434840"/>
            <a:ext cx="822960" cy="25603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074152" y="44348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C9A7"/>
                </a:solidFill>
              </a:rPr>
              <a:t>🔜 Roadmap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DOCUMENTAÇÃO TÉCNICA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Contratos, Segurança &amp; Integração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657600" cy="0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5120640" cy="22860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984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</a:rPr>
              <a:t>📡 EVENTOS ON-CHAIN (Solidity)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27632"/>
            <a:ext cx="4846320" cy="274320"/>
          </a:xfrm>
          <a:prstGeom prst="rect">
            <a:avLst/>
          </a:prstGeom>
          <a:solidFill>
            <a:srgbClr val="0D1117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627632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EscrowCriado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84248" y="1682496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84248" y="168249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Factory.sol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54203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750" dirty="0"/>
              <a:t>Emissão global após </a:t>
            </a:r>
            <a:r>
              <a:rPr lang="pt-BR" sz="750" dirty="0" err="1"/>
              <a:t>deploy</a:t>
            </a:r>
            <a:r>
              <a:rPr lang="pt-BR" sz="750" dirty="0"/>
              <a:t> de nova instância via </a:t>
            </a:r>
            <a:r>
              <a:rPr lang="pt-BR" sz="750" dirty="0" err="1"/>
              <a:t>factory</a:t>
            </a:r>
            <a:r>
              <a:rPr lang="pt-BR" sz="750" dirty="0"/>
              <a:t>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4846320" cy="274320"/>
          </a:xfrm>
          <a:prstGeom prst="rect">
            <a:avLst/>
          </a:prstGeom>
          <a:solidFill>
            <a:srgbClr val="1E2530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1929384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1929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ContratoAceito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984248" y="1984248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84248" y="19842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Escrow.sol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542032" y="1929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750" dirty="0">
                <a:solidFill>
                  <a:srgbClr val="8B949E"/>
                </a:solidFill>
              </a:rPr>
              <a:t>Confirmação de aceite e participação do prestador de serviço.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02920" y="2231136"/>
            <a:ext cx="4846320" cy="274320"/>
          </a:xfrm>
          <a:prstGeom prst="rect">
            <a:avLst/>
          </a:prstGeom>
          <a:solidFill>
            <a:srgbClr val="0D1117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2231136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2311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ServicoDepositado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984248" y="2286000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84248" y="228600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Escrow.sol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542032" y="2231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750" dirty="0">
                <a:solidFill>
                  <a:srgbClr val="8B949E"/>
                </a:solidFill>
              </a:rPr>
              <a:t>Tokens ERC-20 bloqueados com sucesso no contrato inteligente.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532888"/>
            <a:ext cx="4846320" cy="274320"/>
          </a:xfrm>
          <a:prstGeom prst="rect">
            <a:avLst/>
          </a:prstGeom>
          <a:solidFill>
            <a:srgbClr val="1E2530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2532888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25786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ServicoEntregue</a:t>
            </a:r>
            <a:endParaRPr lang="en-US" sz="85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984248" y="2587752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4248" y="25877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Escrow.sol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542032" y="2478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BR" sz="750" dirty="0"/>
          </a:p>
          <a:p>
            <a:pPr marL="0" indent="0">
              <a:buNone/>
            </a:pPr>
            <a:r>
              <a:rPr lang="pt-BR" sz="750" dirty="0"/>
              <a:t>Sinalização de conclusão; inicia contagem de </a:t>
            </a:r>
            <a:r>
              <a:rPr lang="pt-BR" sz="750" dirty="0" err="1"/>
              <a:t>auto-liberação</a:t>
            </a:r>
            <a:r>
              <a:rPr lang="pt-BR" sz="750" dirty="0"/>
              <a:t>.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2834640"/>
            <a:ext cx="4846320" cy="274320"/>
          </a:xfrm>
          <a:prstGeom prst="rect">
            <a:avLst/>
          </a:prstGeom>
          <a:solidFill>
            <a:srgbClr val="0D1117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2834640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DisputaIniciada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984248" y="2889504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4248" y="28895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Escrow.sol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42032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750" dirty="0">
                <a:solidFill>
                  <a:srgbClr val="8B949E"/>
                </a:solidFill>
              </a:rPr>
              <a:t>Bloqueio total de fundos aguardando resolução via árbitro neutro.</a:t>
            </a:r>
          </a:p>
        </p:txBody>
      </p:sp>
      <p:sp>
        <p:nvSpPr>
          <p:cNvPr id="37" name="Shape 35"/>
          <p:cNvSpPr/>
          <p:nvPr/>
        </p:nvSpPr>
        <p:spPr>
          <a:xfrm>
            <a:off x="502920" y="3136392"/>
            <a:ext cx="4846320" cy="274320"/>
          </a:xfrm>
          <a:prstGeom prst="rect">
            <a:avLst/>
          </a:prstGeom>
          <a:solidFill>
            <a:srgbClr val="1E2530"/>
          </a:solidFill>
          <a:ln w="2540">
            <a:solidFill>
              <a:srgbClr val="30363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3136392"/>
            <a:ext cx="36576" cy="2743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3136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PagamentoRealizado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84248" y="3191256"/>
            <a:ext cx="502920" cy="16459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84248" y="319125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 err="1">
                <a:solidFill>
                  <a:srgbClr val="00C9A7"/>
                </a:solidFill>
              </a:rPr>
              <a:t>Escrow.sol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542032" y="3136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750" dirty="0">
                <a:solidFill>
                  <a:srgbClr val="8B949E"/>
                </a:solidFill>
              </a:rPr>
              <a:t>Liberação dos tokens e encerramento do ciclo de vida contratual.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5760" y="3657600"/>
            <a:ext cx="5212080" cy="1234440"/>
          </a:xfrm>
          <a:prstGeom prst="rect">
            <a:avLst/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3730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85149"/>
                </a:solidFill>
              </a:rPr>
              <a:t>🔒 SEGURANÇA IMPLEMENTADA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4041648"/>
            <a:ext cx="2423160" cy="34747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40416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D1D9"/>
                </a:solidFill>
              </a:rPr>
              <a:t>Reentrancy Guard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94360" y="4206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B949E"/>
                </a:solidFill>
              </a:rPr>
              <a:t>Estado = FINALIZADO antes de qualquer transfer() (Checks-Effects-Interactions)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063240" y="4041648"/>
            <a:ext cx="2423160" cy="34747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9" name="Text 47"/>
          <p:cNvSpPr/>
          <p:nvPr/>
        </p:nvSpPr>
        <p:spPr>
          <a:xfrm>
            <a:off x="3154680" y="40416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D1D9"/>
                </a:solidFill>
              </a:rPr>
              <a:t>msg.sender vs tx.origin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154680" y="4206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B949E"/>
                </a:solidFill>
              </a:rPr>
              <a:t>Sempre msg.sender para </a:t>
            </a:r>
            <a:r>
              <a:rPr lang="en-US" sz="700" dirty="0" err="1">
                <a:solidFill>
                  <a:srgbClr val="8B949E"/>
                </a:solidFill>
              </a:rPr>
              <a:t>verificar</a:t>
            </a:r>
            <a:r>
              <a:rPr lang="en-US" sz="700" dirty="0">
                <a:solidFill>
                  <a:srgbClr val="8B949E"/>
                </a:solidFill>
              </a:rPr>
              <a:t> </a:t>
            </a:r>
            <a:r>
              <a:rPr lang="en-US" sz="700" dirty="0" err="1">
                <a:solidFill>
                  <a:srgbClr val="8B949E"/>
                </a:solidFill>
              </a:rPr>
              <a:t>autorização</a:t>
            </a:r>
            <a:r>
              <a:rPr lang="en-US" sz="700" dirty="0">
                <a:solidFill>
                  <a:srgbClr val="8B949E"/>
                </a:solidFill>
              </a:rPr>
              <a:t>, pois tx.origin é vulnerável a phishing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502920" y="4434840"/>
            <a:ext cx="2423160" cy="34747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4434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D1D9"/>
                </a:solidFill>
              </a:rPr>
              <a:t>Sem payable desnecessário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94360" y="45994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B949E"/>
                </a:solidFill>
              </a:rPr>
              <a:t>Funções de pagamento não </a:t>
            </a:r>
            <a:r>
              <a:rPr lang="en-US" sz="700" dirty="0" err="1">
                <a:solidFill>
                  <a:srgbClr val="8B949E"/>
                </a:solidFill>
              </a:rPr>
              <a:t>são</a:t>
            </a:r>
            <a:r>
              <a:rPr lang="en-US" sz="700" dirty="0">
                <a:solidFill>
                  <a:srgbClr val="8B949E"/>
                </a:solidFill>
              </a:rPr>
              <a:t> payable, contrato já possui o saldo do token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063240" y="4434840"/>
            <a:ext cx="2423160" cy="347472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54680" y="4434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D1D9"/>
                </a:solidFill>
              </a:rPr>
              <a:t>Isolamento por contrato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154680" y="45994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B949E"/>
                </a:solidFill>
              </a:rPr>
              <a:t>Cada projeto tem seu próprio </a:t>
            </a:r>
            <a:r>
              <a:rPr lang="en-US" sz="700" dirty="0" err="1">
                <a:solidFill>
                  <a:srgbClr val="8B949E"/>
                </a:solidFill>
              </a:rPr>
              <a:t>Escrow.sol</a:t>
            </a:r>
            <a:r>
              <a:rPr lang="en-US" sz="700" dirty="0">
                <a:solidFill>
                  <a:srgbClr val="8B949E"/>
                </a:solidFill>
              </a:rPr>
              <a:t>, se um </a:t>
            </a:r>
            <a:r>
              <a:rPr lang="en-US" sz="700" dirty="0" err="1">
                <a:solidFill>
                  <a:srgbClr val="8B949E"/>
                </a:solidFill>
              </a:rPr>
              <a:t>falha</a:t>
            </a:r>
            <a:r>
              <a:rPr lang="en-US" sz="700" dirty="0">
                <a:solidFill>
                  <a:srgbClr val="8B949E"/>
                </a:solidFill>
              </a:rPr>
              <a:t> não se </a:t>
            </a:r>
            <a:r>
              <a:rPr lang="en-US" sz="700" dirty="0" err="1">
                <a:solidFill>
                  <a:srgbClr val="8B949E"/>
                </a:solidFill>
              </a:rPr>
              <a:t>propaga</a:t>
            </a:r>
            <a:r>
              <a:rPr lang="en-US" sz="700" dirty="0">
                <a:solidFill>
                  <a:srgbClr val="8B949E"/>
                </a:solidFill>
              </a:rPr>
              <a:t> </a:t>
            </a:r>
            <a:r>
              <a:rPr lang="en-US" sz="700" dirty="0" err="1">
                <a:solidFill>
                  <a:srgbClr val="8B949E"/>
                </a:solidFill>
              </a:rPr>
              <a:t>aos</a:t>
            </a:r>
            <a:r>
              <a:rPr lang="en-US" sz="700" dirty="0">
                <a:solidFill>
                  <a:srgbClr val="8B949E"/>
                </a:solidFill>
              </a:rPr>
              <a:t> outros </a:t>
            </a:r>
            <a:r>
              <a:rPr lang="en-US" sz="700" dirty="0" err="1">
                <a:solidFill>
                  <a:srgbClr val="8B949E"/>
                </a:solidFill>
              </a:rPr>
              <a:t>contratos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5669280" y="1234440"/>
            <a:ext cx="2971800" cy="36576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06440" y="13167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8EF0"/>
                </a:solidFill>
              </a:rPr>
              <a:t>🔗 INTEGRAÇÃO FRONTEND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06440" y="1664208"/>
            <a:ext cx="2651760" cy="566928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806440" y="1664208"/>
            <a:ext cx="36576" cy="566928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97880" y="17465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800" b="1" i="0" dirty="0" err="1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Approve</a:t>
            </a:r>
            <a:r>
              <a:rPr lang="pt-BR" sz="800" b="1" i="0" dirty="0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 + Execute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O fluxo exige </a:t>
            </a:r>
            <a:r>
              <a:rPr lang="pt-BR" sz="800" b="0" i="0" dirty="0" err="1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approve</a:t>
            </a: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() no token antes do </a:t>
            </a:r>
            <a:r>
              <a:rPr lang="pt-BR" sz="800" b="0" i="0" dirty="0" err="1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criaEscrow</a:t>
            </a: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() para garantir a custódia imediata.</a:t>
            </a:r>
          </a:p>
        </p:txBody>
      </p:sp>
      <p:sp>
        <p:nvSpPr>
          <p:cNvPr id="63" name="Shape 61"/>
          <p:cNvSpPr/>
          <p:nvPr/>
        </p:nvSpPr>
        <p:spPr>
          <a:xfrm>
            <a:off x="5806440" y="2286000"/>
            <a:ext cx="2651760" cy="4663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806439" y="2286000"/>
            <a:ext cx="45719" cy="45720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897880" y="236829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800" b="1" i="0" dirty="0" err="1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Polling</a:t>
            </a:r>
            <a:r>
              <a:rPr lang="pt-BR" sz="800" b="1" i="0" dirty="0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 de Estado (</a:t>
            </a:r>
            <a:r>
              <a:rPr lang="pt-BR" sz="800" b="1" i="0" dirty="0" err="1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Enum</a:t>
            </a:r>
            <a:r>
              <a:rPr lang="pt-BR" sz="800" b="1" i="0" dirty="0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Mapeamento dinâmico do estado (0-5) para alternância de botões e visão da UI.</a:t>
            </a:r>
          </a:p>
        </p:txBody>
      </p:sp>
      <p:sp>
        <p:nvSpPr>
          <p:cNvPr id="67" name="Shape 65"/>
          <p:cNvSpPr/>
          <p:nvPr/>
        </p:nvSpPr>
        <p:spPr>
          <a:xfrm>
            <a:off x="5806440" y="2907792"/>
            <a:ext cx="2651760" cy="502920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06439" y="2907792"/>
            <a:ext cx="45719" cy="50292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897880" y="30678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800" b="1" i="0" dirty="0" err="1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Automated</a:t>
            </a:r>
            <a:r>
              <a:rPr lang="pt-BR" sz="800" b="1" i="0" dirty="0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 Triggers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Scripts podem monitorar </a:t>
            </a:r>
            <a:r>
              <a:rPr lang="pt-BR" sz="800" b="0" i="0" dirty="0" err="1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block.timestamp</a:t>
            </a: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 para acionar reembolsos ou pagamentos expirados.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806440" y="3529584"/>
            <a:ext cx="2651760" cy="457200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06439" y="3529584"/>
            <a:ext cx="45719" cy="466344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75020" y="361721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800" b="1" i="0" dirty="0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Logs &amp; </a:t>
            </a:r>
            <a:r>
              <a:rPr lang="pt-BR" sz="800" b="1" i="0" dirty="0" err="1">
                <a:solidFill>
                  <a:srgbClr val="00F2FF"/>
                </a:solidFill>
                <a:effectLst/>
                <a:latin typeface="Poppins" panose="00000500000000000000" pitchFamily="2" charset="0"/>
              </a:rPr>
              <a:t>Webhooks</a:t>
            </a:r>
            <a:endParaRPr lang="pt-BR" sz="800" b="1" i="0" dirty="0">
              <a:solidFill>
                <a:srgbClr val="00F2FF"/>
              </a:solidFill>
              <a:effectLst/>
              <a:latin typeface="Poppins" panose="00000500000000000000" pitchFamily="2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Escuta reativa de eventos via RPC para atualização do banco de dados off-</a:t>
            </a:r>
            <a:r>
              <a:rPr lang="pt-BR" sz="800" b="0" i="0" dirty="0" err="1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chain</a:t>
            </a:r>
            <a:r>
              <a:rPr lang="pt-BR" sz="800" b="0" i="0" dirty="0">
                <a:solidFill>
                  <a:srgbClr val="FFFFFF"/>
                </a:solidFill>
                <a:effectLst/>
                <a:latin typeface="Poppins" panose="00000500000000000000" pitchFamily="2" charset="0"/>
              </a:rPr>
              <a:t>.</a:t>
            </a:r>
          </a:p>
        </p:txBody>
      </p:sp>
      <p:sp>
        <p:nvSpPr>
          <p:cNvPr id="75" name="Shape 73"/>
          <p:cNvSpPr/>
          <p:nvPr/>
        </p:nvSpPr>
        <p:spPr>
          <a:xfrm>
            <a:off x="5806440" y="4151376"/>
            <a:ext cx="2651760" cy="566928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06440" y="4151376"/>
            <a:ext cx="36576" cy="566928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97880" y="419709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 </a:t>
            </a:r>
            <a:r>
              <a:rPr lang="en-US" sz="9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síncrono</a:t>
            </a: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Web2+Web3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897880" y="4379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49E"/>
                </a:solidFill>
              </a:rPr>
              <a:t>Após confirmação on-chain, o frontend atualiza o Supabase com o escrow_address e muda o status para em_andamento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</a:rPr>
              <a:t>SMART CONTRACTS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Fluxo da Máquina de Estados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200400" cy="0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298448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98448"/>
            <a:ext cx="1554480" cy="109728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264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CRIADO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0040" y="16824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Factory faz deploy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do Escrow.sol filho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874520" y="1691640"/>
            <a:ext cx="5943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331720" y="16184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0363D"/>
                </a:solidFill>
              </a:rPr>
              <a:t>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1298448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3D8EF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48840" y="1298448"/>
            <a:ext cx="1554480" cy="109728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14264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ACEITO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48840" y="16824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 chama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aceitarContrato()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703320" y="1691640"/>
            <a:ext cx="5943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160520" y="16184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0363D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77640" y="1298448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E3B341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77640" y="1298448"/>
            <a:ext cx="1554480" cy="109728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77640" y="14264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DEPOSITADO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977640" y="16824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Contratante faz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approve + depositar()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532120" y="1691640"/>
            <a:ext cx="5943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989320" y="16184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0363D"/>
                </a:solidFill>
              </a:rPr>
              <a:t>▶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806440" y="1298448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8B5CF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806440" y="1298448"/>
            <a:ext cx="155448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06440" y="14264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ENTREGUE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06440" y="16824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 chama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entregarServico()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311390" y="1697736"/>
            <a:ext cx="5943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726680" y="16093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0363D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543800" y="1289304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43800" y="1298448"/>
            <a:ext cx="1554480" cy="10972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3800" y="1417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FINALIZADO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16733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 recebe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USDD via transfer()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977640" y="2423160"/>
            <a:ext cx="155448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977640" y="2423160"/>
            <a:ext cx="1554480" cy="10972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77640" y="25511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EM_DISPUTA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977640" y="28072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iniciarDisputa()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contratante ou prestador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754880" y="2075688"/>
            <a:ext cx="0" cy="347472"/>
          </a:xfrm>
          <a:prstGeom prst="line">
            <a:avLst/>
          </a:prstGeom>
          <a:noFill/>
          <a:ln w="19050">
            <a:solidFill>
              <a:srgbClr val="F85149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66344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85149"/>
                </a:solidFill>
              </a:rPr>
              <a:t>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32120" y="2816352"/>
            <a:ext cx="1097280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6492240" y="27340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</a:rPr>
              <a:t>▶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32120" y="3017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C9A7"/>
                </a:solidFill>
              </a:rPr>
              <a:t>resolverDisputa(bool)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00C9A7"/>
                </a:solidFill>
              </a:rPr>
              <a:t>árbitro neutro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429000"/>
            <a:ext cx="8503920" cy="146304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C9A7"/>
                </a:solidFill>
              </a:rPr>
              <a:t>FUNÇÕES PRINCIPAIS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3749040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374904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criaEscrow()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618488" y="3749040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618488" y="37490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Factory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2148840" y="37490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Novo Escrow.sol por </a:t>
            </a:r>
            <a:r>
              <a:rPr lang="en-US" sz="750" dirty="0" err="1">
                <a:solidFill>
                  <a:srgbClr val="C9D1D9"/>
                </a:solidFill>
              </a:rPr>
              <a:t>projeto</a:t>
            </a:r>
            <a:r>
              <a:rPr lang="en-US" sz="750" dirty="0">
                <a:solidFill>
                  <a:srgbClr val="C9D1D9"/>
                </a:solidFill>
              </a:rPr>
              <a:t>, </a:t>
            </a:r>
            <a:r>
              <a:rPr lang="en-US" sz="750" dirty="0" err="1">
                <a:solidFill>
                  <a:srgbClr val="C9D1D9"/>
                </a:solidFill>
              </a:rPr>
              <a:t>permite</a:t>
            </a:r>
            <a:r>
              <a:rPr lang="en-US" sz="750" dirty="0">
                <a:solidFill>
                  <a:srgbClr val="C9D1D9"/>
                </a:solidFill>
              </a:rPr>
              <a:t> o isolamento total de fundos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91840" y="3749040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74904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aceitarContrato()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453128" y="3749040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53128" y="37490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983480" y="37490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Duplo consentimento: prestador valida árbitro proposto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126480" y="3749040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0" y="374904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depositar()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287768" y="3749040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87768" y="37490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Contratante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818120" y="37490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ERC-20 approve + </a:t>
            </a:r>
            <a:r>
              <a:rPr lang="en-US" sz="750" dirty="0" err="1">
                <a:solidFill>
                  <a:srgbClr val="C9D1D9"/>
                </a:solidFill>
              </a:rPr>
              <a:t>transferFrom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57200" y="4224528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422452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entregarServico()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1618488" y="4224528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618488" y="422452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2148840" y="422452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Salva </a:t>
            </a:r>
            <a:r>
              <a:rPr lang="en-US" sz="750" dirty="0" err="1">
                <a:solidFill>
                  <a:srgbClr val="C9D1D9"/>
                </a:solidFill>
              </a:rPr>
              <a:t>block.timestamp</a:t>
            </a:r>
            <a:r>
              <a:rPr lang="en-US" sz="750" dirty="0">
                <a:solidFill>
                  <a:srgbClr val="C9D1D9"/>
                </a:solidFill>
              </a:rPr>
              <a:t> inicia contagem de 3 dias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91840" y="4224528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91840" y="422452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pagarPrestador()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453128" y="4224528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453128" y="422452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Contratante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4983480" y="422452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CEI pattern: estado = FINALIZADO antes do transfer()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6126480" y="4224528"/>
            <a:ext cx="1143000" cy="237744"/>
          </a:xfrm>
          <a:prstGeom prst="rect">
            <a:avLst/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0" y="422452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pagarPorPrazoExpirado()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287768" y="4224528"/>
            <a:ext cx="502920" cy="237744"/>
          </a:xfrm>
          <a:prstGeom prst="rect">
            <a:avLst/>
          </a:prstGeom>
          <a:solidFill>
            <a:srgbClr val="1E253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287768" y="422452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</a:rPr>
              <a:t>Prestador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7818120" y="422452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9D1D9"/>
                </a:solidFill>
              </a:rPr>
              <a:t>Auto-release após 3 dias sem resposta do contratante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2024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19" y="-189738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41080" y="0"/>
            <a:ext cx="0" cy="514350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-502920" y="9652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1E25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39700"/>
            <a:ext cx="4572000" cy="4572000"/>
          </a:xfrm>
          <a:prstGeom prst="ellipse">
            <a:avLst/>
          </a:prstGeom>
          <a:solidFill>
            <a:srgbClr val="00C9A7">
              <a:alpha val="11000"/>
            </a:srgbClr>
          </a:solidFill>
          <a:ln w="12700">
            <a:solidFill>
              <a:srgbClr val="00C9A7">
                <a:alpha val="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47041"/>
            <a:ext cx="4925060" cy="777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Obrigado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238760" y="462915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não deveria depender de um intermediário.</a:t>
            </a:r>
            <a:endParaRPr lang="en-US" sz="1800" dirty="0"/>
          </a:p>
        </p:txBody>
      </p:sp>
      <p:sp>
        <p:nvSpPr>
          <p:cNvPr id="44" name="Shape 16">
            <a:extLst>
              <a:ext uri="{FF2B5EF4-FFF2-40B4-BE49-F238E27FC236}">
                <a16:creationId xmlns:a16="http://schemas.microsoft.com/office/drawing/2014/main" id="{B4E6D1BB-B1F0-46E7-A9BD-44CCACD44988}"/>
              </a:ext>
            </a:extLst>
          </p:cNvPr>
          <p:cNvSpPr/>
          <p:nvPr/>
        </p:nvSpPr>
        <p:spPr>
          <a:xfrm>
            <a:off x="457200" y="1417320"/>
            <a:ext cx="2286000" cy="0"/>
          </a:xfrm>
          <a:prstGeom prst="line">
            <a:avLst/>
          </a:prstGeom>
          <a:noFill/>
          <a:ln w="25400">
            <a:solidFill>
              <a:srgbClr val="00C8A0"/>
            </a:solidFill>
            <a:prstDash val="solid"/>
          </a:ln>
        </p:spPr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E898CA9D-3F31-4B9E-B061-916864F7920C}"/>
              </a:ext>
            </a:extLst>
          </p:cNvPr>
          <p:cNvSpPr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</a:t>
            </a:r>
            <a:endParaRPr lang="en-US" sz="900" dirty="0"/>
          </a:p>
        </p:txBody>
      </p:sp>
      <p:sp>
        <p:nvSpPr>
          <p:cNvPr id="46" name="Shape 18">
            <a:extLst>
              <a:ext uri="{FF2B5EF4-FFF2-40B4-BE49-F238E27FC236}">
                <a16:creationId xmlns:a16="http://schemas.microsoft.com/office/drawing/2014/main" id="{64EBA1B5-AE48-4DAD-8238-C6929A7DE44E}"/>
              </a:ext>
            </a:extLst>
          </p:cNvPr>
          <p:cNvSpPr/>
          <p:nvPr/>
        </p:nvSpPr>
        <p:spPr>
          <a:xfrm>
            <a:off x="425450" y="2028954"/>
            <a:ext cx="1292862" cy="1132839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19050">
            <a:solidFill>
              <a:srgbClr val="00C8A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A8187C4C-99C6-4BB4-AEC4-1B09E215E7E9}"/>
              </a:ext>
            </a:extLst>
          </p:cNvPr>
          <p:cNvSpPr/>
          <p:nvPr/>
        </p:nvSpPr>
        <p:spPr>
          <a:xfrm>
            <a:off x="2057400" y="1920240"/>
            <a:ext cx="44577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</a:rPr>
              <a:t>Thiago </a:t>
            </a:r>
            <a:r>
              <a:rPr lang="en-US" sz="2200" b="1" dirty="0" err="1">
                <a:solidFill>
                  <a:srgbClr val="FFFFFF"/>
                </a:solidFill>
                <a:latin typeface="Arial Black" pitchFamily="34" charset="0"/>
              </a:rPr>
              <a:t>Figueiredo</a:t>
            </a: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Arial Black" pitchFamily="34" charset="0"/>
              </a:rPr>
              <a:t>Piazentin</a:t>
            </a:r>
            <a:endParaRPr lang="en-US" sz="2200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C857F69-89AD-4991-AD40-00DBE69015FC}"/>
              </a:ext>
            </a:extLst>
          </p:cNvPr>
          <p:cNvSpPr/>
          <p:nvPr/>
        </p:nvSpPr>
        <p:spPr>
          <a:xfrm>
            <a:off x="2090419" y="2409444"/>
            <a:ext cx="45720" cy="256032"/>
          </a:xfrm>
          <a:prstGeom prst="rect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46AF1C41-B1F4-431F-81B8-A7E78AD9F2ED}"/>
              </a:ext>
            </a:extLst>
          </p:cNvPr>
          <p:cNvSpPr/>
          <p:nvPr/>
        </p:nvSpPr>
        <p:spPr>
          <a:xfrm>
            <a:off x="2207261" y="2370327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https://github.com/Dafloresz</a:t>
            </a:r>
            <a:endParaRPr lang="en-US" sz="1100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179AF5F9-93E2-4B8D-9083-D4C4EC24C01B}"/>
              </a:ext>
            </a:extLst>
          </p:cNvPr>
          <p:cNvSpPr/>
          <p:nvPr/>
        </p:nvSpPr>
        <p:spPr>
          <a:xfrm>
            <a:off x="2090419" y="2791714"/>
            <a:ext cx="45720" cy="256032"/>
          </a:xfrm>
          <a:prstGeom prst="rect">
            <a:avLst/>
          </a:prstGeom>
          <a:solidFill>
            <a:srgbClr val="00C8A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8A301439-05C2-471D-B66C-BDFDC8AEFD3F}"/>
              </a:ext>
            </a:extLst>
          </p:cNvPr>
          <p:cNvSpPr/>
          <p:nvPr/>
        </p:nvSpPr>
        <p:spPr>
          <a:xfrm>
            <a:off x="2207261" y="2771647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https://www.linkedin.com/in/thiagopiazentin/</a:t>
            </a:r>
            <a:endParaRPr lang="en-US" sz="11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rdósia">
  <a:themeElements>
    <a:clrScheme name="Ardósi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Ardósi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dósi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TM04033929[[fn=Ardósia]]</Template>
  <TotalTime>482</TotalTime>
  <Words>1129</Words>
  <Application>Microsoft Office PowerPoint</Application>
  <PresentationFormat>Apresentação na tela (16:9)</PresentationFormat>
  <Paragraphs>223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Calisto MT</vt:lpstr>
      <vt:lpstr>Consolas</vt:lpstr>
      <vt:lpstr>Poppins</vt:lpstr>
      <vt:lpstr>Wingdings 2</vt:lpstr>
      <vt:lpstr>Ardósia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Web3 Escrow Freelancer – Pitch</dc:title>
  <dc:subject>PptxGenJS Presentation</dc:subject>
  <dc:creator>PptxGenJS</dc:creator>
  <cp:lastModifiedBy>Thiago</cp:lastModifiedBy>
  <cp:revision>19</cp:revision>
  <dcterms:created xsi:type="dcterms:W3CDTF">2026-06-05T01:25:56Z</dcterms:created>
  <dcterms:modified xsi:type="dcterms:W3CDTF">2026-06-08T23:48:25Z</dcterms:modified>
</cp:coreProperties>
</file>